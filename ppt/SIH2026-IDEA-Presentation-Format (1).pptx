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303520" cy="4389120"/>
          </a:xfrm>
          <a:prstGeom prst="rect">
            <a:avLst/>
          </a:prstGeom>
          <a:noFill/>
        </p:spPr>
        <p:txBody>
          <a:bodyPr wrap="square" rtlCol="0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Problem Statement ID: </a:t>
            </a:r>
            <a:r>
              <a:rPr sz="1300" b="1">
                <a:solidFill>
                  <a:srgbClr val="D35400"/>
                </a:solidFill>
                <a:latin typeface="Calibri"/>
              </a:rPr>
              <a:t>SIH26090 (PS-90)</a:t>
            </a:r>
            <a:endParaRPr lang="en-US" dirty="0"/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Problem Statement Title: </a:t>
            </a:r>
            <a:r>
              <a:rPr sz="1300" b="0">
                <a:solidFill>
                  <a:srgbClr val="28323C"/>
                </a:solidFill>
                <a:latin typeface="Calibri"/>
              </a:rPr>
              <a:t>AI-Driven Digital Commerce &amp; Catalog Management Platform for Grassroots Artisans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Theme: </a:t>
            </a:r>
            <a:r>
              <a:rPr sz="1300" b="0">
                <a:solidFill>
                  <a:srgbClr val="28323C"/>
                </a:solidFill>
                <a:latin typeface="Calibri"/>
              </a:rPr>
              <a:t>Smart Automation / Heritage &amp; Culture / AI for Bharat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PS Category: </a:t>
            </a:r>
            <a:r>
              <a:rPr sz="1300" b="0">
                <a:solidFill>
                  <a:srgbClr val="28323C"/>
                </a:solidFill>
                <a:latin typeface="Calibri"/>
              </a:rPr>
              <a:t>Software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Team ID: </a:t>
            </a:r>
            <a:r>
              <a:rPr sz="1300" b="0">
                <a:solidFill>
                  <a:srgbClr val="28323C"/>
                </a:solidFill>
                <a:latin typeface="Calibri"/>
              </a:rPr>
              <a:t>[Your Team ID / e.g. SIH-2026-XXXXX]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Team Name: </a:t>
            </a:r>
            <a:r>
              <a:rPr sz="1300" b="0">
                <a:solidFill>
                  <a:srgbClr val="28323C"/>
                </a:solidFill>
                <a:latin typeface="Calibri"/>
              </a:rPr>
              <a:t>[Your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IDEA TITLE: ArtisanAI (Voice Commerce Platform)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Proposed Solution &amp; Core Workflow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5-Step Intuitive Flow: </a:t>
            </a:r>
            <a:r>
              <a:rPr sz="1000" b="0">
                <a:solidFill>
                  <a:srgbClr val="28323C"/>
                </a:solidFill>
                <a:latin typeface="Calibri"/>
              </a:rPr>
              <a:t>PHOTO ➔ SPEAK ➔ PROCESS ➔ REVIEW ➔ PUBLISH. Turns raw craft photos and native speech into studio-grade e-commerce listings in &lt;30 seconds.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Voice-First Cataloging: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Artisans speak naturally in their native tongue/dialect (Hindi, Odia, regional dialects); Whisper STT extracts structured specs (material, dimensions, care).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1-Tap Auto-Fill Review: </a:t>
            </a:r>
            <a:r>
              <a:rPr sz="1000" b="0">
                <a:solidFill>
                  <a:srgbClr val="28323C"/>
                </a:solidFill>
                <a:latin typeface="Calibri"/>
              </a:rPr>
              <a:t>Pre-fills multi-language product listings for immediate preview and editing before final publishing.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Addressing Core Pain Points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Eliminates Literacy Barriers: </a:t>
            </a:r>
            <a:r>
              <a:rPr sz="1000" b="0">
                <a:solidFill>
                  <a:srgbClr val="28323C"/>
                </a:solidFill>
                <a:latin typeface="Calibri"/>
              </a:rPr>
              <a:t>Bypasses complex multi-field English forms with simple voice description and 1-tap automated attribute extraction.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Studio Photography (Zero Cost): </a:t>
            </a:r>
            <a:r>
              <a:rPr sz="1000" b="0">
                <a:solidFill>
                  <a:srgbClr val="28323C"/>
                </a:solidFill>
                <a:latin typeface="Calibri"/>
              </a:rPr>
              <a:t>Removes workshop clutter, corrects lighting/orientation, and renders 1024x1024 marketplace-compliant white/grey studio backdrops.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3. Innovation &amp; Uniqueness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Offline-First Resilience: </a:t>
            </a:r>
            <a:r>
              <a:rPr sz="1000" b="0">
                <a:solidFill>
                  <a:srgbClr val="28323C"/>
                </a:solidFill>
                <a:latin typeface="Calibri"/>
              </a:rPr>
              <a:t>Local persistent JSON queue buffers audio and image drafts during network blackouts and auto-syncs when reconnected.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Anti-Hallucination Extraction: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Restricts catalog specs strictly to spoken verified facts, ensuring 100% genuine product attributes.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Multi-Protocol Export Ready: </a:t>
            </a:r>
            <a:r>
              <a:rPr sz="1000" b="0">
                <a:solidFill>
                  <a:srgbClr val="28323C"/>
                </a:solidFill>
                <a:latin typeface="Calibri"/>
              </a:rPr>
              <a:t>1-click export to ONDC Beckn protocol JSON and Government e-Marketplace (GeM) listing formats.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4. Fair Wage Economic Model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Living Wage Protection: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Calculates living wages (₹90+/hr) + raw materials to suggest transparent Fair Base, E-Commerce, &amp; Export retail pricing.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Direct Buyer Connection: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Includes direct buyer inquiry inbox to help artisans negotiate bulk orders directly, bypassing predatory middlemen.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Production Technology Stack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Mobile Frontend: </a:t>
            </a:r>
            <a:r>
              <a:rPr sz="1000" b="0">
                <a:solidFill>
                  <a:srgbClr val="28323C"/>
                </a:solidFill>
                <a:latin typeface="Calibri"/>
              </a:rPr>
              <a:t>Flutter 3.x (Dart), Local JSON Sync Queue, Flutter Secure Storage (Android KeyStore), Cross-Platform (Android/iOS).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Backend Core: </a:t>
            </a:r>
            <a:r>
              <a:rPr sz="1000" b="0">
                <a:solidFill>
                  <a:srgbClr val="28323C"/>
                </a:solidFill>
                <a:latin typeface="Calibri"/>
              </a:rPr>
              <a:t>FastAPI (Python 3.14/3.11), SQLAlchemy 2.0 ORM, PostgreSQL 16 / SQLite, Alembic Database Migrations.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AI &amp; Speech Pipeline: </a:t>
            </a:r>
            <a:r>
              <a:rPr sz="1000" b="0">
                <a:solidFill>
                  <a:srgbClr val="28323C"/>
                </a:solidFill>
                <a:latin typeface="Calibri"/>
              </a:rPr>
              <a:t>Local Whisper STT (Indian regional dialects), OpenCV/PIL Image Studio (1024x1024 Chroma removal, contrast &amp; soft contact shadows).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Pricing &amp; Export Engine: </a:t>
            </a:r>
            <a:r>
              <a:rPr sz="1000" b="0">
                <a:solidFill>
                  <a:srgbClr val="28323C"/>
                </a:solidFill>
                <a:latin typeface="Calibri"/>
              </a:rPr>
              <a:t>Dynamic Cost-Plus Fair Wage Algorithm, ONDC Beckn Schema Builder, GeM CSV/JSON Exporter.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DevOps &amp; Infrastructure: </a:t>
            </a:r>
            <a:r>
              <a:rPr sz="1000" b="0">
                <a:solidFill>
                  <a:srgbClr val="28323C"/>
                </a:solidFill>
                <a:latin typeface="Calibri"/>
              </a:rPr>
              <a:t>Dockerized microservices, NGINX reverse proxy with SSL, rate limiting, and zero vendor lock-in.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End-to-End Implementation Methodology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1 (Capture &amp; Local Buffer):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 records 10s voice + camera photo on mobile. Buffered atomically in persistent local queue if offline.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2 (FastAPI AI Processing): </a:t>
            </a:r>
            <a:r>
              <a:rPr sz="1000" b="0">
                <a:solidFill>
                  <a:srgbClr val="28323C"/>
                </a:solidFill>
                <a:latin typeface="Calibri"/>
              </a:rPr>
              <a:t>Backend receives payload -&gt; Whisper transcribes voice -&gt; extracts dimensions &amp; craft type -&gt; PIL normalizes lighting &amp; renders shadow.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3 (Cost Benchmarking): </a:t>
            </a:r>
            <a:r>
              <a:rPr sz="1000" b="0">
                <a:solidFill>
                  <a:srgbClr val="28323C"/>
                </a:solidFill>
                <a:latin typeface="Calibri"/>
              </a:rPr>
              <a:t>Algorithm computes base labor + material costs + margin multiplier -&gt; recommends 3-tier prices (Fair Base, E-Comm, Export).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4 (Publish &amp; Distribute): </a:t>
            </a:r>
            <a:r>
              <a:rPr sz="1000" b="0">
                <a:solidFill>
                  <a:srgbClr val="28323C"/>
                </a:solidFill>
                <a:latin typeface="Calibri"/>
              </a:rPr>
              <a:t>Catalog stored in PostgreSQL, indexed for buyer discovery, and formatted for ONDC Beckn / GeM marketplace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Feasibility &amp; Scalability Analysis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Technical Feasibility: </a:t>
            </a:r>
            <a:r>
              <a:rPr sz="1000" b="0">
                <a:solidFill>
                  <a:srgbClr val="28323C"/>
                </a:solidFill>
                <a:latin typeface="Calibri"/>
              </a:rPr>
              <a:t>Production-hardened prototype tested end-to-end; lightweight mobile APK (&lt;25MB), runs smoothly on budget Android phones (&gt;=2GB RAM).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Zero Cloud Lock-In &amp; Low Cost: </a:t>
            </a:r>
            <a:r>
              <a:rPr sz="1000" b="0">
                <a:solidFill>
                  <a:srgbClr val="28323C"/>
                </a:solidFill>
                <a:latin typeface="Calibri"/>
              </a:rPr>
              <a:t>Built using open-source models with local CPU fallback; near-zero server infrastructure cost per listing generated.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Modular Microservices: </a:t>
            </a:r>
            <a:r>
              <a:rPr sz="1000" b="0">
                <a:solidFill>
                  <a:srgbClr val="28323C"/>
                </a:solidFill>
                <a:latin typeface="Calibri"/>
              </a:rPr>
              <a:t>Stateless FastAPI worker nodes scale horizontally behind NGINX to handle millions of catalog sync requests.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Security &amp; Compliance: </a:t>
            </a:r>
            <a:r>
              <a:rPr sz="1000" b="0">
                <a:solidFill>
                  <a:srgbClr val="28323C"/>
                </a:solidFill>
                <a:latin typeface="Calibri"/>
              </a:rPr>
              <a:t>Magic-byte MIME upload validation, IDOR mitigation, bcrypt token hashing, and strict role-based admin controls.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Potential Challenges &amp; Mitigation Strategies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Rural Network Blackouts: </a:t>
            </a:r>
            <a:r>
              <a:rPr sz="1000" b="0">
                <a:solidFill>
                  <a:srgbClr val="28323C"/>
                </a:solidFill>
                <a:latin typeface="Calibri"/>
              </a:rPr>
              <a:t>Challenge: Erratic connectivity causes cloud sync failures.
Mitigation: Offline-first JSON queue stores drafts locally and auto-syncs when connection returns.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Noisy Workshop Audio: </a:t>
            </a:r>
            <a:r>
              <a:rPr sz="1000" b="0">
                <a:solidFill>
                  <a:srgbClr val="28323C"/>
                </a:solidFill>
                <a:latin typeface="Calibri"/>
              </a:rPr>
              <a:t>Challenge: Loom clatter and ambient workshop noise.
Mitigation: Pre-filtered audio with Whisper STT and strict anti-hallucination fact verification boundaries.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Poor Camera Lighting: </a:t>
            </a:r>
            <a:r>
              <a:rPr sz="1000" b="0">
                <a:solidFill>
                  <a:srgbClr val="28323C"/>
                </a:solidFill>
                <a:latin typeface="Calibri"/>
              </a:rPr>
              <a:t>Challenge: Harsh shadows and dim indoor photography.
Mitigation: CLAHE contrast balance, unsharp masking, and synthetic studio contact shadow rendering.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Impact on Grassroots Artisans &amp; SHGs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Empowering 200M+ Artisans: </a:t>
            </a:r>
            <a:r>
              <a:rPr sz="1000" b="0">
                <a:solidFill>
                  <a:srgbClr val="28323C"/>
                </a:solidFill>
                <a:latin typeface="Calibri"/>
              </a:rPr>
              <a:t>Directly bridges the digital divide for weavers, potters, metalcasters, and women's self-help groups across Bharat.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Time Efficiency: </a:t>
            </a:r>
            <a:r>
              <a:rPr sz="1000" b="0">
                <a:solidFill>
                  <a:srgbClr val="28323C"/>
                </a:solidFill>
                <a:latin typeface="Calibri"/>
              </a:rPr>
              <a:t>Reduces catalog creation time from 45+ minutes of manual form typing down to under 30 seconds of voice + photo.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Inclusive Multilingual UX: </a:t>
            </a:r>
            <a:r>
              <a:rPr sz="1000" b="0">
                <a:solidFill>
                  <a:srgbClr val="28323C"/>
                </a:solidFill>
                <a:latin typeface="Calibri"/>
              </a:rPr>
              <a:t>Enables non-English speaking artisans to generate professional national &amp; global e-commerce listings effortlessly.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Fair Margin Recovery: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Artisans reclaim 30%–40% lost margins previously captured by intermediaries through transparent cost-plus pricing.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Socio-Economic, Cultural &amp; National Value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Cultural Heritage Preservation: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Creates a permanent digital archive of endangered indigenous craft traditions (Dokra casting, Madhubani, Pattachitra).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Environmental Sustainability: </a:t>
            </a:r>
            <a:r>
              <a:rPr sz="1000" b="0">
                <a:solidFill>
                  <a:srgbClr val="28323C"/>
                </a:solidFill>
                <a:latin typeface="Calibri"/>
              </a:rPr>
              <a:t>Promotes eco-friendly, sustainable, zero-carbon handmade goods over mass factory plastic commodities.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Alignment with National Missions: </a:t>
            </a:r>
            <a:r>
              <a:rPr sz="1000" b="0">
                <a:solidFill>
                  <a:srgbClr val="28323C"/>
                </a:solidFill>
                <a:latin typeface="Calibri"/>
              </a:rPr>
              <a:t>Directly powers Digital India, Vocal for Local, ONDC protocol adoption, and Atmanirbhar Bharat.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Formal Economy Integration: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Transforms unorganized grassroots micro-entrepreneurs into formal digital commerce participants with GeM &amp; ONDC catalogs.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Government &amp; Industry Standards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Ministry of Textiles, Govt. of India: </a:t>
            </a:r>
            <a:r>
              <a:rPr sz="1000" b="0">
                <a:solidFill>
                  <a:srgbClr val="28323C"/>
                </a:solidFill>
                <a:latin typeface="Calibri"/>
              </a:rPr>
              <a:t>4th All India Handloom Census &amp; Handicrafts Socio-Economic Survey Reports.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Open Network for Digital Commerce (ONDC): </a:t>
            </a:r>
            <a:r>
              <a:rPr sz="1000" b="0">
                <a:solidFill>
                  <a:srgbClr val="28323C"/>
                </a:solidFill>
                <a:latin typeface="Calibri"/>
              </a:rPr>
              <a:t>Beckn Protocol Retail Specifications &amp; Handicrafts Category Taxonomy (ondc.org).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Government e-Marketplace (GeM): </a:t>
            </a:r>
            <a:r>
              <a:rPr sz="1000" b="0">
                <a:solidFill>
                  <a:srgbClr val="28323C"/>
                </a:solidFill>
                <a:latin typeface="Calibri"/>
              </a:rPr>
              <a:t>Product catalog standardization &amp; artisan onboarding guidelines (gem.gov.in).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Fair Trade Forum India &amp; ILO: </a:t>
            </a:r>
            <a:r>
              <a:rPr sz="1000" b="0">
                <a:solidFill>
                  <a:srgbClr val="28323C"/>
                </a:solidFill>
                <a:latin typeface="Calibri"/>
              </a:rPr>
              <a:t>Living wage calculation standards for artisanal and unorganized craft labor.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Technical Research &amp; Live Artifacts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OpenAI Whisper Research Paper: </a:t>
            </a:r>
            <a:r>
              <a:rPr sz="1000" b="0">
                <a:solidFill>
                  <a:srgbClr val="28323C"/>
                </a:solidFill>
                <a:latin typeface="Calibri"/>
              </a:rPr>
              <a:t>"Robust Speech Recognition via Large-Scale Weak Supervision" (Low-resource multilingual STT).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Offline-First Architecture Standards: </a:t>
            </a:r>
            <a:r>
              <a:rPr sz="1000" b="0">
                <a:solidFill>
                  <a:srgbClr val="28323C"/>
                </a:solidFill>
                <a:latin typeface="Calibri"/>
              </a:rPr>
              <a:t>Local storage persistence &amp; sync reconciliation patterns in high-latency environments.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GitHub Repository: </a:t>
            </a:r>
            <a:r>
              <a:rPr sz="1000" b="0">
                <a:solidFill>
                  <a:srgbClr val="28323C"/>
                </a:solidFill>
                <a:latin typeface="Calibri"/>
              </a:rPr>
              <a:t>https://github.com/amitpadhan525/SIH (Full Stack: Flutter Mobile + FastAPI Backend + Docker)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Live Android APK Release: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ArtisanAI v1.3 Production Hardened Release with demo evaluator mode.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